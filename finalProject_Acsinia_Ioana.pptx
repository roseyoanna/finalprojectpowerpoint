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1" r:id="rId1"/>
  </p:sldMasterIdLst>
  <p:notesMasterIdLst>
    <p:notesMasterId r:id="rId13"/>
  </p:notesMasterIdLst>
  <p:sldIdLst>
    <p:sldId id="278" r:id="rId2"/>
    <p:sldId id="260" r:id="rId3"/>
    <p:sldId id="281" r:id="rId4"/>
    <p:sldId id="279" r:id="rId5"/>
    <p:sldId id="269" r:id="rId6"/>
    <p:sldId id="276" r:id="rId7"/>
    <p:sldId id="262" r:id="rId8"/>
    <p:sldId id="271" r:id="rId9"/>
    <p:sldId id="274" r:id="rId10"/>
    <p:sldId id="275" r:id="rId11"/>
    <p:sldId id="2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163"/>
    <a:srgbClr val="B5C39D"/>
    <a:srgbClr val="FDEDFB"/>
    <a:srgbClr val="F3EBF9"/>
    <a:srgbClr val="E8D9F3"/>
    <a:srgbClr val="D0EEDB"/>
    <a:srgbClr val="FBDDF8"/>
    <a:srgbClr val="001848"/>
    <a:srgbClr val="000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94660"/>
  </p:normalViewPr>
  <p:slideViewPr>
    <p:cSldViewPr snapToGrid="0">
      <p:cViewPr varScale="1">
        <p:scale>
          <a:sx n="94" d="100"/>
          <a:sy n="94" d="100"/>
        </p:scale>
        <p:origin x="240" y="41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0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8ACA7-9BBE-4FC3-BCE5-8FD519C7E50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30F11-1005-48EF-9975-1AEC0667D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30F11-1005-48EF-9975-1AEC0667D5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83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30F11-1005-48EF-9975-1AEC0667D5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1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30F11-1005-48EF-9975-1AEC0667D5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09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30F11-1005-48EF-9975-1AEC0667D5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4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30F11-1005-48EF-9975-1AEC0667D5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06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30F11-1005-48EF-9975-1AEC0667D5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24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30F11-1005-48EF-9975-1AEC0667D5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71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30F11-1005-48EF-9975-1AEC0667D5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98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30F11-1005-48EF-9975-1AEC0667D5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13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1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8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0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43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7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31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4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7290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14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944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14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2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44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B890-F4ED-726A-4FDC-C4FB5DD7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5410C-0C93-FC18-A795-F5BAAB1C6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13515-84DD-AAE4-2517-961AA8E2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EF780-49E3-43C9-8EE3-EEAA704DA00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674E4-57DD-666F-A23B-31FA7F75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3CA59-3C4C-6280-8B34-865E8053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3CB42-5C56-4E50-955E-D9BFAA72F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3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B0C2B-1F6B-4345-ABC2-7F9D97E7945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08EE612-C901-42DA-A80D-64E22B20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hyperlink" Target="https://github.com/roseyoanna/jewelryShop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7000">
              <a:schemeClr val="accent4">
                <a:lumMod val="40000"/>
                <a:lumOff val="60000"/>
              </a:schemeClr>
            </a:gs>
            <a:gs pos="0">
              <a:schemeClr val="accent2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Text Placeholder 2">
            <a:extLst>
              <a:ext uri="{FF2B5EF4-FFF2-40B4-BE49-F238E27FC236}">
                <a16:creationId xmlns:a16="http://schemas.microsoft.com/office/drawing/2014/main" id="{F5BE9133-A198-D71A-F984-BAA4D6B0E252}"/>
              </a:ext>
            </a:extLst>
          </p:cNvPr>
          <p:cNvSpPr txBox="1">
            <a:spLocks/>
          </p:cNvSpPr>
          <p:nvPr/>
        </p:nvSpPr>
        <p:spPr>
          <a:xfrm>
            <a:off x="2758557" y="952353"/>
            <a:ext cx="9004818" cy="4981722"/>
          </a:xfrm>
          <a:prstGeom prst="rect">
            <a:avLst/>
          </a:prstGeo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 prst="slope"/>
            </a:sp3d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2000" b="1" dirty="0">
              <a:solidFill>
                <a:srgbClr val="7030A0"/>
              </a:solidFill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  <a:t>Developed by: </a:t>
            </a: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  <a:t>Acsinia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  <a:t> Ioana</a:t>
            </a:r>
          </a:p>
          <a:p>
            <a:pPr marL="457200" lvl="1" indent="0">
              <a:buNone/>
            </a:pPr>
            <a:r>
              <a:rPr lang="en-US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https://github.com/roseyoanna/</a:t>
            </a:r>
            <a:r>
              <a:rPr lang="en-US" b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jewelryShop</a:t>
            </a:r>
            <a:endParaRPr lang="en-US" b="1" u="sng" dirty="0">
              <a:solidFill>
                <a:schemeClr val="tx1">
                  <a:lumMod val="95000"/>
                  <a:lumOff val="5000"/>
                </a:schemeClr>
              </a:solidFill>
              <a:effectLst>
                <a:glow rad="139700">
                  <a:schemeClr val="accent3">
                    <a:satMod val="175000"/>
                    <a:alpha val="0"/>
                  </a:schemeClr>
                </a:glow>
              </a:effectLst>
              <a:latin typeface="Castellar" panose="020A0402060406010301" pitchFamily="18" charset="0"/>
            </a:endParaRPr>
          </a:p>
          <a:p>
            <a:pPr marL="457200" lvl="1" indent="0">
              <a:buNone/>
            </a:pPr>
            <a:r>
              <a:rPr lang="en-US" b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https://jewelry-shop-fawn.vercel.app/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  <a:t>Course: Front-End Development by: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  <a:t> </a:t>
            </a:r>
            <a:b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</a:b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glow rad="139700">
                  <a:schemeClr val="accent3">
                    <a:satMod val="175000"/>
                    <a:alpha val="0"/>
                  </a:schemeClr>
                </a:glow>
              </a:effectLst>
              <a:latin typeface="Castellar" panose="020A0402060406010301" pitchFamily="18" charset="0"/>
            </a:endParaRPr>
          </a:p>
          <a:p>
            <a:pPr marL="457200" lvl="1" indent="0">
              <a:buNone/>
            </a:pPr>
            <a:b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</a:b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  <a:t>Year: </a:t>
            </a:r>
            <a:r>
              <a:rPr lang="en-US" sz="2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  <a:t>2026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glow rad="139700">
                  <a:schemeClr val="accent3">
                    <a:satMod val="175000"/>
                    <a:alpha val="0"/>
                  </a:schemeClr>
                </a:glow>
              </a:effectLst>
              <a:latin typeface="Castellar" panose="020A0402060406010301" pitchFamily="18" charset="0"/>
            </a:endParaRPr>
          </a:p>
          <a:p>
            <a:pPr marL="457200" lvl="1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39700">
                    <a:schemeClr val="accent3">
                      <a:satMod val="175000"/>
                      <a:alpha val="0"/>
                    </a:schemeClr>
                  </a:glow>
                </a:effectLst>
                <a:latin typeface="Castellar" panose="020A0402060406010301" pitchFamily="18" charset="0"/>
              </a:rPr>
              <a:t>  </a:t>
            </a:r>
          </a:p>
        </p:txBody>
      </p:sp>
      <p:pic>
        <p:nvPicPr>
          <p:cNvPr id="7" name="Picture 6" descr="Digital Stack">
            <a:extLst>
              <a:ext uri="{FF2B5EF4-FFF2-40B4-BE49-F238E27FC236}">
                <a16:creationId xmlns:a16="http://schemas.microsoft.com/office/drawing/2014/main" id="{6C3385B2-18D5-3691-7655-C2A074E5A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6" y="3050428"/>
            <a:ext cx="6896100" cy="12246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446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2">
                <a:lumMod val="20000"/>
                <a:lumOff val="80000"/>
              </a:schemeClr>
            </a:gs>
            <a:gs pos="68000">
              <a:schemeClr val="accent4">
                <a:lumMod val="40000"/>
                <a:lumOff val="60000"/>
              </a:schemeClr>
            </a:gs>
            <a:gs pos="35000">
              <a:schemeClr val="bg1">
                <a:lumMod val="95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8D28-9B22-6A9F-2E19-75D8A2F1C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088" y="102638"/>
            <a:ext cx="7634286" cy="649837"/>
          </a:xfrm>
        </p:spPr>
        <p:txBody>
          <a:bodyPr>
            <a:normAutofit fontScale="90000"/>
          </a:bodyPr>
          <a:lstStyle/>
          <a:p>
            <a:pPr marR="0" rtl="0"/>
            <a:r>
              <a:rPr lang="en-US" sz="4000" b="1" i="0" u="none" strike="noStrike" baseline="0" dirty="0">
                <a:solidFill>
                  <a:srgbClr val="1F3864"/>
                </a:solidFill>
                <a:latin typeface="Times New Roman" panose="02020603050405020304" pitchFamily="18" charset="0"/>
              </a:rPr>
              <a:t>              </a:t>
            </a:r>
            <a:r>
              <a:rPr lang="en-US" sz="4000" b="1" i="0" u="none" strike="noStrike" baseline="0" dirty="0">
                <a:solidFill>
                  <a:schemeClr val="tx1">
                    <a:lumMod val="10000"/>
                  </a:schemeClr>
                </a:solidFill>
                <a:latin typeface="Castellar" panose="020A0402060406010301" pitchFamily="18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EEF37-3E79-2E18-C30B-F724022E4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4152902"/>
            <a:ext cx="10554283" cy="2652712"/>
          </a:xfrm>
        </p:spPr>
        <p:txBody>
          <a:bodyPr>
            <a:normAutofit fontScale="92500"/>
          </a:bodyPr>
          <a:lstStyle/>
          <a:p>
            <a:pPr marL="0" marR="0" lvl="0" indent="0" rtl="0">
              <a:buNone/>
            </a:pPr>
            <a:r>
              <a:rPr lang="ro-RO" sz="2400" b="1" i="0" u="none" strike="noStrike" baseline="0" dirty="0">
                <a:solidFill>
                  <a:srgbClr val="002060"/>
                </a:solidFill>
                <a:latin typeface="Castellar" panose="020A0402060406010301" pitchFamily="18" charset="0"/>
              </a:rPr>
              <a:t>         </a:t>
            </a:r>
            <a:r>
              <a:rPr lang="en-US" sz="21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Main Objectives:</a:t>
            </a:r>
          </a:p>
          <a:p>
            <a:pPr marR="0" lvl="2" rtl="0">
              <a:buFont typeface="Wingdings" panose="05000000000000000000" pitchFamily="2" charset="2"/>
              <a:buChar char="v"/>
            </a:pPr>
            <a:r>
              <a:rPr lang="en-US" sz="21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Develop a responsive online jewelry store. </a:t>
            </a:r>
          </a:p>
          <a:p>
            <a:pPr marR="0" lvl="2" rtl="0">
              <a:buFont typeface="Wingdings" panose="05000000000000000000" pitchFamily="2" charset="2"/>
              <a:buChar char="v"/>
            </a:pPr>
            <a:r>
              <a:rPr lang="en-US" sz="21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Create an intuitive user interface. </a:t>
            </a:r>
          </a:p>
          <a:p>
            <a:pPr marR="0" lvl="2" rtl="0">
              <a:buFont typeface="Wingdings" panose="05000000000000000000" pitchFamily="2" charset="2"/>
              <a:buChar char="v"/>
            </a:pPr>
            <a:r>
              <a:rPr lang="en-US" sz="21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Simulate the shopping experience of a real e-commerce website. </a:t>
            </a:r>
          </a:p>
          <a:p>
            <a:pPr marR="0" lvl="2" rtl="0">
              <a:buFont typeface="Wingdings" panose="05000000000000000000" pitchFamily="2" charset="2"/>
              <a:buChar char="v"/>
            </a:pPr>
            <a:r>
              <a:rPr lang="en-US" sz="21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Practice modern front-end development technologies. </a:t>
            </a:r>
          </a:p>
          <a:p>
            <a:pPr marR="0" lvl="2" rtl="0"/>
            <a:endParaRPr lang="en-US" sz="1800" b="0" i="0" u="none" strike="noStrike" baseline="0" dirty="0">
              <a:solidFill>
                <a:srgbClr val="7030A0"/>
              </a:solidFill>
              <a:latin typeface="Castellar" panose="020A0402060406010301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D1C0F-86D8-8548-6505-23E146EA19A7}"/>
              </a:ext>
            </a:extLst>
          </p:cNvPr>
          <p:cNvSpPr txBox="1"/>
          <p:nvPr/>
        </p:nvSpPr>
        <p:spPr>
          <a:xfrm>
            <a:off x="3976688" y="860702"/>
            <a:ext cx="43529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buNone/>
            </a:pPr>
            <a:r>
              <a:rPr lang="en-US" sz="1800" b="1" i="0" u="none" strike="noStrike" baseline="0" dirty="0">
                <a:solidFill>
                  <a:srgbClr val="002060"/>
                </a:solidFill>
                <a:latin typeface="Castellar" panose="020A0402060406010301" pitchFamily="18" charset="0"/>
              </a:rPr>
              <a:t>       </a:t>
            </a:r>
            <a:r>
              <a:rPr lang="en-US" sz="2200" b="1" i="0" u="none" strike="noStrike" baseline="0" dirty="0">
                <a:solidFill>
                  <a:schemeClr val="tx1">
                    <a:lumMod val="10000"/>
                  </a:schemeClr>
                </a:solidFill>
                <a:latin typeface="Castellar" panose="020A0402060406010301" pitchFamily="18" charset="0"/>
              </a:rPr>
              <a:t>About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A6B7F-55F8-7B07-8C38-60D6848B0C56}"/>
              </a:ext>
            </a:extLst>
          </p:cNvPr>
          <p:cNvSpPr txBox="1"/>
          <p:nvPr/>
        </p:nvSpPr>
        <p:spPr>
          <a:xfrm>
            <a:off x="595312" y="1354068"/>
            <a:ext cx="1068705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2" indent="0" rtl="0">
              <a:buNone/>
            </a:pPr>
            <a:r>
              <a:rPr lang="en-US" sz="1800" b="1" i="0" u="none" strike="noStrike" baseline="0" dirty="0">
                <a:solidFill>
                  <a:srgbClr val="002060"/>
                </a:solidFill>
                <a:latin typeface="Castellar" panose="020A0402060406010301" pitchFamily="18" charset="0"/>
              </a:rPr>
              <a:t>   </a:t>
            </a:r>
            <a:r>
              <a:rPr lang="en-US" sz="2200" b="1" i="0" u="none" strike="noStrike" baseline="0" dirty="0">
                <a:solidFill>
                  <a:srgbClr val="000F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Luxury Jewels is a modern e-commerce web application</a:t>
            </a:r>
          </a:p>
          <a:p>
            <a:pPr marL="914400" marR="0" lvl="2" indent="0" rtl="0">
              <a:buNone/>
            </a:pPr>
            <a:r>
              <a:rPr lang="en-US" sz="2200" b="1" i="0" u="none" strike="noStrike" baseline="0" dirty="0">
                <a:solidFill>
                  <a:srgbClr val="000F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designed to showcase and sell unique jewelry pieces</a:t>
            </a:r>
          </a:p>
          <a:p>
            <a:pPr marL="914400" marR="0" lvl="2" indent="0" rtl="0">
              <a:buNone/>
            </a:pPr>
            <a:r>
              <a:rPr lang="en-US" sz="2200" b="1" i="0" u="none" strike="noStrike" baseline="0" dirty="0">
                <a:solidFill>
                  <a:srgbClr val="000F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through an elegant and intuitive interface.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D072B-668A-8DAA-ABFC-34DA45E56AA0}"/>
              </a:ext>
            </a:extLst>
          </p:cNvPr>
          <p:cNvSpPr txBox="1"/>
          <p:nvPr/>
        </p:nvSpPr>
        <p:spPr>
          <a:xfrm>
            <a:off x="553640" y="2534395"/>
            <a:ext cx="1108471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2" indent="0" rtl="0">
              <a:buNone/>
            </a:pPr>
            <a:r>
              <a:rPr lang="en-US" sz="1800" b="1" i="0" u="none" strike="noStrike" baseline="0" dirty="0">
                <a:solidFill>
                  <a:srgbClr val="002060"/>
                </a:solidFill>
                <a:latin typeface="Castellar" panose="020A0402060406010301" pitchFamily="18" charset="0"/>
              </a:rPr>
              <a:t> </a:t>
            </a:r>
            <a:r>
              <a:rPr lang="en-US" sz="2200" b="1" i="0" u="none" strike="noStrike" baseline="0" dirty="0">
                <a:solidFill>
                  <a:schemeClr val="tx1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application focuses on providing users with a smooth</a:t>
            </a:r>
          </a:p>
          <a:p>
            <a:pPr marL="914400" marR="0" lvl="2" indent="0" rtl="0">
              <a:buNone/>
            </a:pPr>
            <a:r>
              <a:rPr lang="en-US" sz="2200" b="1" i="0" u="none" strike="noStrike" baseline="0" dirty="0">
                <a:solidFill>
                  <a:schemeClr val="tx1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shopping experience by allowing them to browse</a:t>
            </a:r>
          </a:p>
          <a:p>
            <a:pPr marL="914400" marR="0" lvl="2" indent="0" rtl="0">
              <a:buNone/>
            </a:pPr>
            <a:r>
              <a:rPr lang="en-US" sz="2200" b="1" i="0" u="none" strike="noStrike" baseline="0" dirty="0">
                <a:solidFill>
                  <a:schemeClr val="tx1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products, search by category, manage a </a:t>
            </a:r>
            <a:r>
              <a:rPr lang="en-US" sz="2200" b="1" dirty="0">
                <a:solidFill>
                  <a:schemeClr val="tx1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sz="2200" b="1" i="0" u="none" strike="noStrike" baseline="0" dirty="0">
                <a:solidFill>
                  <a:schemeClr val="tx1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ishlist and</a:t>
            </a:r>
          </a:p>
          <a:p>
            <a:pPr marL="914400" marR="0" lvl="2" indent="0" rtl="0">
              <a:buNone/>
            </a:pPr>
            <a:r>
              <a:rPr lang="en-US" sz="2200" b="1" i="0" u="none" strike="noStrike" baseline="0" dirty="0">
                <a:solidFill>
                  <a:schemeClr val="tx1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purchase items through a dynamic shopping cart.</a:t>
            </a:r>
          </a:p>
        </p:txBody>
      </p:sp>
    </p:spTree>
    <p:extLst>
      <p:ext uri="{BB962C8B-B14F-4D97-AF65-F5344CB8AC3E}">
        <p14:creationId xmlns:p14="http://schemas.microsoft.com/office/powerpoint/2010/main" val="32871977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A475ACE-6015-6E66-925E-AD1947F73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016" y="0"/>
            <a:ext cx="4189984" cy="6858000"/>
          </a:xfrm>
          <a:prstGeom prst="ellipse">
            <a:avLst/>
          </a:prstGeom>
          <a:ln>
            <a:noFill/>
          </a:ln>
          <a:effectLst>
            <a:glow rad="63500">
              <a:schemeClr val="accent1">
                <a:lumMod val="20000"/>
                <a:lumOff val="80000"/>
                <a:alpha val="40000"/>
              </a:schemeClr>
            </a:glow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370E5A-2AB9-CC83-214E-5FB5D4DC4F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1424"/>
            <a:ext cx="7924800" cy="37799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glow rad="228600">
              <a:srgbClr val="FBDDF8">
                <a:alpha val="40000"/>
              </a:srgbClr>
            </a:glow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974490-E79D-C835-512E-CC70F2F606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3338"/>
            <a:ext cx="7912608" cy="36486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glow rad="228600">
              <a:srgbClr val="FBDDF8">
                <a:alpha val="40000"/>
              </a:srgbClr>
            </a:glow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906998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3000">
              <a:schemeClr val="accent4">
                <a:lumMod val="40000"/>
                <a:lumOff val="60000"/>
              </a:schemeClr>
            </a:gs>
            <a:gs pos="0">
              <a:schemeClr val="accent2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7522098-84F8-6532-8D1A-2A29BE4AE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9527" y="1128713"/>
            <a:ext cx="6829424" cy="5643564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Implemented Features: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Navigation menu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Product categories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Search functionality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Product details page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Wishlist system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Shopping cart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Quantity management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Automatic total calculation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Responsive interface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Modern UI/UX design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Shopping cart indicator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Easy navigation back to the product list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Large product image gallery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3200" b="1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3200" b="1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3200" b="1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3200" b="1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3200" b="1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3200" b="1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3500" b="1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  <a:p>
            <a:pPr lvl="1"/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1"/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1"/>
            <a:endParaRPr lang="en-US" sz="3500" b="1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  <a:p>
            <a:pPr algn="ctr">
              <a:buFont typeface="Wingdings" panose="05000000000000000000" pitchFamily="2" charset="2"/>
              <a:buChar char="v"/>
            </a:pPr>
            <a:endParaRPr lang="en-US" b="1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D9F9858-6282-77C9-0C3A-509845DED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075" y="252097"/>
            <a:ext cx="6353175" cy="533716"/>
          </a:xfrm>
        </p:spPr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</a:rPr>
              <a:t>  </a:t>
            </a:r>
            <a:r>
              <a:rPr lang="en-US" sz="34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MAIN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28860130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68000">
              <a:schemeClr val="accent4">
                <a:lumMod val="40000"/>
                <a:lumOff val="60000"/>
              </a:schemeClr>
            </a:gs>
            <a:gs pos="35000">
              <a:srgbClr val="F3EBF9"/>
            </a:gs>
            <a:gs pos="0">
              <a:schemeClr val="accent2">
                <a:lumMod val="20000"/>
                <a:lumOff val="80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250FF-8C03-7CBF-57DA-6153213B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059" y="69850"/>
            <a:ext cx="7419975" cy="489987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    CART AND OTHER  FEATURES </a:t>
            </a:r>
            <a:endParaRPr lang="en-US" sz="3000" b="1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2B7F7-1CB2-8303-4791-FE62F572E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6976" y="2071396"/>
            <a:ext cx="10048812" cy="3657600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buNone/>
            </a:pPr>
            <a:r>
              <a:rPr lang="en-US" sz="23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Includes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The cart updates   dynamically.</a:t>
            </a:r>
            <a:endParaRPr lang="en-US" sz="2200" b="1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Add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&amp;</a:t>
            </a: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Remove </a:t>
            </a: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products to Wishlist 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&amp;</a:t>
            </a: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to CART</a:t>
            </a:r>
          </a:p>
          <a:p>
            <a:pPr marR="0" lvl="1" rtl="0">
              <a:buFont typeface="Wingdings" panose="05000000000000000000" pitchFamily="2" charset="2"/>
              <a:buChar char="v"/>
            </a:pP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Favorite products counter </a:t>
            </a:r>
          </a:p>
          <a:p>
            <a:pPr marR="0" lvl="1" rtl="0">
              <a:buFont typeface="Wingdings" panose="05000000000000000000" pitchFamily="2" charset="2"/>
              <a:buChar char="v"/>
            </a:pP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Cart counter </a:t>
            </a:r>
          </a:p>
          <a:p>
            <a:pPr marR="0" lvl="1" rtl="0">
              <a:buFont typeface="Wingdings" panose="05000000000000000000" pitchFamily="2" charset="2"/>
              <a:buChar char="v"/>
            </a:pP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"Added to Cart" notification popup </a:t>
            </a:r>
          </a:p>
          <a:p>
            <a:pPr marR="0" lvl="1" rtl="0">
              <a:buFont typeface="Wingdings" panose="05000000000000000000" pitchFamily="2" charset="2"/>
              <a:buChar char="v"/>
            </a:pP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Instant interface updates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Total amount displayed in real time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Increase &amp; decrease quantity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Order summary </a:t>
            </a:r>
          </a:p>
          <a:p>
            <a:pPr lvl="1"/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marR="0" lvl="1" rtl="0"/>
            <a:endParaRPr lang="en-US" sz="2400" b="1" i="0" u="none" strike="noStrike" baseline="0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AF56F-7B82-1531-7AB3-77D54F69BE72}"/>
              </a:ext>
            </a:extLst>
          </p:cNvPr>
          <p:cNvSpPr txBox="1"/>
          <p:nvPr/>
        </p:nvSpPr>
        <p:spPr>
          <a:xfrm>
            <a:off x="228600" y="736105"/>
            <a:ext cx="1168192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rtl="0">
              <a:buNone/>
            </a:pP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application enhances the user experience</a:t>
            </a:r>
            <a:r>
              <a:rPr lang="ro-RO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interactive features.</a:t>
            </a:r>
          </a:p>
          <a:p>
            <a:pPr lvl="1"/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shopping cart allows users to manage their selected products.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17C6B-0BD5-B676-9E29-ED1AB22B2CC2}"/>
              </a:ext>
            </a:extLst>
          </p:cNvPr>
          <p:cNvSpPr txBox="1"/>
          <p:nvPr/>
        </p:nvSpPr>
        <p:spPr>
          <a:xfrm>
            <a:off x="1017037" y="5939269"/>
            <a:ext cx="10744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rtl="0">
              <a:buNone/>
            </a:pPr>
            <a:r>
              <a:rPr lang="en-US" sz="22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These features provide immediate visual feedback and improve usability.</a:t>
            </a:r>
          </a:p>
        </p:txBody>
      </p:sp>
    </p:spTree>
    <p:extLst>
      <p:ext uri="{BB962C8B-B14F-4D97-AF65-F5344CB8AC3E}">
        <p14:creationId xmlns:p14="http://schemas.microsoft.com/office/powerpoint/2010/main" val="1868373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F4CE87-CA46-1D50-0944-1104D2F17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34129" y="40640"/>
            <a:ext cx="4028222" cy="53116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12F64C-31C6-8082-D77A-C21C242A6C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53248" cy="54051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ED3701CF-A182-2A5D-100D-94D2147889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56896" y="5445760"/>
            <a:ext cx="12248896" cy="1412240"/>
          </a:xfrm>
          <a:gradFill>
            <a:gsLst>
              <a:gs pos="0">
                <a:schemeClr val="bg2">
                  <a:tint val="90000"/>
                  <a:satMod val="92000"/>
                  <a:lumMod val="120000"/>
                </a:schemeClr>
              </a:gs>
              <a:gs pos="97000">
                <a:srgbClr val="EF8163"/>
              </a:gs>
            </a:gsLst>
            <a:path path="circle">
              <a:fillToRect l="50000" t="50000" r="100000" b="100000"/>
            </a:path>
          </a:gra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000" b="1" dirty="0"/>
              <a:t>  </a:t>
            </a:r>
            <a:br>
              <a:rPr lang="en-US" sz="2000" b="1" dirty="0"/>
            </a:br>
            <a:r>
              <a:rPr lang="en-US" sz="2000" b="1" dirty="0"/>
              <a:t>   Each product has a dedicated page that presents complete information. This page helps users make informed purchasing decisions. The cart updates dynamically as users interact with it.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577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2">
                <a:lumMod val="20000"/>
                <a:lumOff val="80000"/>
              </a:schemeClr>
            </a:gs>
            <a:gs pos="60000">
              <a:srgbClr val="B5C39D"/>
            </a:gs>
            <a:gs pos="100000">
              <a:schemeClr val="accent5">
                <a:lumMod val="40000"/>
                <a:lumOff val="60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AD91-FAF8-4030-CF26-63566ACF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494" y="96128"/>
            <a:ext cx="5619750" cy="6000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F3864"/>
                </a:solidFill>
                <a:latin typeface="Castellar" panose="020A0402060406010301" pitchFamily="18" charset="0"/>
              </a:rPr>
              <a:t>   </a:t>
            </a:r>
            <a:r>
              <a:rPr lang="en-US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Technologie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s  Used:</a:t>
            </a:r>
            <a:endParaRPr lang="en-US" b="1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941E4-7527-DE41-D326-95957E203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4922" y="876300"/>
            <a:ext cx="9157996" cy="5653088"/>
          </a:xfrm>
        </p:spPr>
        <p:txBody>
          <a:bodyPr>
            <a:normAutofit/>
          </a:bodyPr>
          <a:lstStyle/>
          <a:p>
            <a:pPr marR="0" lvl="2" rtl="0"/>
            <a:endParaRPr lang="en-US" sz="2000" b="1" i="0" u="none" strike="noStrike" baseline="0" dirty="0">
              <a:solidFill>
                <a:srgbClr val="002060"/>
              </a:solidFill>
              <a:latin typeface="Castellar" panose="020A0402060406010301" pitchFamily="18" charset="0"/>
            </a:endParaRPr>
          </a:p>
          <a:p>
            <a:pPr marR="0" lvl="2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rgbClr val="002060"/>
                </a:solidFill>
                <a:latin typeface="Castellar" panose="020A0402060406010301" pitchFamily="18" charset="0"/>
              </a:rPr>
              <a:t> </a:t>
            </a: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React.js </a:t>
            </a:r>
          </a:p>
          <a:p>
            <a:pPr marR="0" lvl="2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JavaScript (ES6+) 	</a:t>
            </a:r>
          </a:p>
          <a:p>
            <a:pPr marR="0" lvl="2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HTML5 </a:t>
            </a:r>
          </a:p>
          <a:p>
            <a:pPr marR="0" lvl="2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CSS3 </a:t>
            </a:r>
          </a:p>
          <a:p>
            <a:pPr marR="0" lvl="2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Context API / React State Management </a:t>
            </a:r>
          </a:p>
          <a:p>
            <a:pPr marR="0" lvl="2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Local Storage (for Cart &amp; Wishlist persistence) </a:t>
            </a:r>
          </a:p>
          <a:p>
            <a:pPr marR="0" lvl="0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Development Tools</a:t>
            </a:r>
          </a:p>
          <a:p>
            <a:pPr marR="0" lvl="2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Visual Studio Code </a:t>
            </a:r>
          </a:p>
          <a:p>
            <a:pPr marR="0" lvl="2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Git &amp; GitHub </a:t>
            </a:r>
          </a:p>
          <a:p>
            <a:pPr marR="0" lvl="2" rt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</a:t>
            </a:r>
            <a:r>
              <a:rPr lang="en-US" sz="2000" b="1" i="0" u="none" strike="noStrike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npm</a:t>
            </a: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04556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2D34B-183E-9780-A1BC-88DB50274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2952750" cy="6858000"/>
          </a:xfrm>
          <a:solidFill>
            <a:schemeClr val="accent5">
              <a:lumMod val="40000"/>
              <a:lumOff val="60000"/>
            </a:schemeClr>
          </a:solidFill>
          <a:effectLst/>
        </p:spPr>
        <p:txBody>
          <a:bodyPr>
            <a:normAutofit fontScale="92500" lnSpcReduction="20000"/>
          </a:bodyPr>
          <a:lstStyle/>
          <a:p>
            <a:pPr marL="457200" marR="0" lvl="1" indent="0" rtl="0">
              <a:buNone/>
            </a:pPr>
            <a:endParaRPr lang="en-US" sz="2000" b="0" i="0" u="none" strike="noStrike" baseline="0" dirty="0">
              <a:solidFill>
                <a:srgbClr val="2F5496"/>
              </a:solidFill>
              <a:latin typeface="Times New Roman" panose="02020603050405020304" pitchFamily="18" charset="0"/>
            </a:endParaRPr>
          </a:p>
          <a:p>
            <a:pPr marL="457200" marR="0" lvl="1" indent="0" rtl="0">
              <a:buNone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Nirmala UI" panose="020B0502040204020203" pitchFamily="34" charset="0"/>
                <a:cs typeface="Courier New" panose="02070309020205020404" pitchFamily="49" charset="0"/>
              </a:rPr>
              <a:t>The About section introduces the concept behind Luxury Jewels.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Nirmala UI" panose="020B0502040204020203" pitchFamily="34" charset="0"/>
                <a:cs typeface="Courier New" panose="02070309020205020404" pitchFamily="49" charset="0"/>
              </a:rPr>
              <a:t>It presents the collection as a personal and unique selection of jewelry pieces, emphasizing craftsmanship, elegance, and sentimental value.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Nirmala UI" panose="020B0502040204020203" pitchFamily="34" charset="0"/>
                <a:cs typeface="Courier New" panose="02070309020205020404" pitchFamily="49" charset="0"/>
              </a:rPr>
              <a:t>This section creates a stronger emotional connection between users and the products.</a:t>
            </a:r>
          </a:p>
          <a:p>
            <a:pPr marR="0" lvl="0" rtl="0"/>
            <a:endParaRPr lang="en-US" b="0" i="0" u="none" strike="noStrike" baseline="0" dirty="0">
              <a:solidFill>
                <a:srgbClr val="2F5496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C82F1-0077-F8A7-5AF9-BA7868803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352" y="132080"/>
            <a:ext cx="9314688" cy="672592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652039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2">
                <a:lumMod val="20000"/>
                <a:lumOff val="80000"/>
              </a:schemeClr>
            </a:gs>
            <a:gs pos="71000">
              <a:schemeClr val="bg2">
                <a:lumMod val="90000"/>
              </a:schemeClr>
            </a:gs>
            <a:gs pos="37000">
              <a:schemeClr val="bg1">
                <a:lumMod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5A50-6522-C4D8-895F-20D3BA058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663" y="170275"/>
            <a:ext cx="4198401" cy="676053"/>
          </a:xfrm>
        </p:spPr>
        <p:txBody>
          <a:bodyPr>
            <a:noAutofit/>
          </a:bodyPr>
          <a:lstStyle/>
          <a:p>
            <a:pPr marR="0" rtl="0"/>
            <a:r>
              <a:rPr lang="en-US" sz="4000" b="0" i="0" u="none" strike="noStrike" baseline="0" dirty="0">
                <a:solidFill>
                  <a:srgbClr val="1F3864"/>
                </a:solidFill>
                <a:latin typeface="Times New Roman" panose="02020603050405020304" pitchFamily="18" charset="0"/>
              </a:rPr>
              <a:t> </a:t>
            </a:r>
            <a:r>
              <a:rPr lang="en-US" sz="40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81D26-8769-E9C4-59F0-1D40A504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2176" y="1946656"/>
            <a:ext cx="10453624" cy="4792281"/>
          </a:xfrm>
        </p:spPr>
        <p:txBody>
          <a:bodyPr>
            <a:normAutofit/>
          </a:bodyPr>
          <a:lstStyle/>
          <a:p>
            <a:pPr marR="0" lvl="1" rtl="0">
              <a:buFont typeface="Wingdings" panose="05000000000000000000" pitchFamily="2" charset="2"/>
              <a:buChar char="q"/>
            </a:pPr>
            <a:r>
              <a:rPr lang="en-US" sz="28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Luxury Jewels demonstrates the development of a complete front-end e-commerce application using modern web technologies.</a:t>
            </a:r>
          </a:p>
          <a:p>
            <a:pPr marR="0" lvl="1" rtl="0">
              <a:buFont typeface="Wingdings" panose="05000000000000000000" pitchFamily="2" charset="2"/>
              <a:buChar char="q"/>
            </a:pPr>
            <a:r>
              <a:rPr lang="en-US" sz="28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project combines functionality with an elegant user interface to create an engaging online shopping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1252296747"/>
      </p:ext>
    </p:extLst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20000"/>
                <a:lumOff val="80000"/>
              </a:schemeClr>
            </a:gs>
            <a:gs pos="70000">
              <a:srgbClr val="B5C39D"/>
            </a:gs>
            <a:gs pos="37000">
              <a:schemeClr val="bg1">
                <a:lumMod val="95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E1FF-F2A1-2811-222A-0B6DFD98F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642" y="253937"/>
            <a:ext cx="6433079" cy="661988"/>
          </a:xfrm>
        </p:spPr>
        <p:txBody>
          <a:bodyPr>
            <a:normAutofit/>
          </a:bodyPr>
          <a:lstStyle/>
          <a:p>
            <a:pPr marR="0" rtl="0"/>
            <a:r>
              <a:rPr lang="en-US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Future 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B1CDE-3506-C50E-3853-D11E6B631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616" y="1601407"/>
            <a:ext cx="8351520" cy="4726911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2800" b="1" u="sng" cap="small" dirty="0">
                <a:solidFill>
                  <a:srgbClr val="002060"/>
                </a:solidFill>
                <a:latin typeface="Castellar" panose="020A0402060406010301" pitchFamily="18" charset="0"/>
              </a:rPr>
              <a:t> </a:t>
            </a:r>
            <a:r>
              <a:rPr lang="en-US" sz="2800" b="1" u="sng" cap="small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User authentication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u="sng" cap="small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Backend integration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u="sng" cap="small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Database support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u="sng" cap="small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Payment gateway integration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u="sng" cap="small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Order history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u="sng" cap="small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Product filtering and sorting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u="sng" cap="small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Admin dashboard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u="sng" cap="small" dirty="0">
                <a:solidFill>
                  <a:schemeClr val="tx1">
                    <a:lumMod val="95000"/>
                    <a:lumOff val="5000"/>
                  </a:schemeClr>
                </a:solidFill>
                <a:latin typeface="Castellar" panose="020A0402060406010301" pitchFamily="18" charset="0"/>
              </a:rPr>
              <a:t> Product reviews and ratings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stellar" panose="020A0402060406010301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5369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0">
              <a:schemeClr val="accent4">
                <a:lumMod val="73000"/>
                <a:lumOff val="27000"/>
              </a:schemeClr>
            </a:gs>
            <a:gs pos="37000">
              <a:schemeClr val="bg1"/>
            </a:gs>
            <a:gs pos="0">
              <a:schemeClr val="bg1">
                <a:lumMod val="95000"/>
              </a:schemeClr>
            </a:gs>
            <a:gs pos="84000">
              <a:schemeClr val="accent6">
                <a:lumMod val="40000"/>
                <a:lumOff val="6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6CE3EB-4331-A67E-7564-1B7C22C7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6520" y="2400300"/>
            <a:ext cx="8911687" cy="2105025"/>
          </a:xfrm>
          <a:gradFill>
            <a:gsLst>
              <a:gs pos="55000">
                <a:schemeClr val="accent4">
                  <a:lumMod val="60000"/>
                  <a:lumOff val="4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rect">
              <a:fillToRect l="100000" t="100000"/>
            </a:path>
          </a:gradFill>
          <a:ln>
            <a:solidFill>
              <a:schemeClr val="accent6">
                <a:lumMod val="75000"/>
              </a:schemeClr>
            </a:solidFill>
          </a:ln>
          <a:effectLst>
            <a:glow rad="127000">
              <a:schemeClr val="accent4">
                <a:lumMod val="40000"/>
                <a:lumOff val="60000"/>
                <a:alpha val="40000"/>
              </a:schemeClr>
            </a:glow>
            <a:outerShdw blurRad="50800" dist="38100" dir="16200000" rotWithShape="0">
              <a:schemeClr val="accent4">
                <a:lumMod val="40000"/>
                <a:lumOff val="60000"/>
                <a:alpha val="40000"/>
              </a:schemeClr>
            </a:outerShdw>
            <a:softEdge rad="38100"/>
          </a:effectLst>
          <a:scene3d>
            <a:camera prst="isometricRightUp"/>
            <a:lightRig rig="threePt" dir="t"/>
          </a:scene3d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Castellar" panose="020A0402060406010301" pitchFamily="18" charset="0"/>
              </a:rPr>
              <a:t>                     </a:t>
            </a:r>
            <a:br>
              <a:rPr lang="en-US" sz="3200" b="1" dirty="0">
                <a:solidFill>
                  <a:srgbClr val="002060"/>
                </a:solidFill>
                <a:latin typeface="Castellar" panose="020A0402060406010301" pitchFamily="18" charset="0"/>
              </a:rPr>
            </a:br>
            <a:r>
              <a:rPr lang="en-US" sz="3200" b="1" dirty="0">
                <a:solidFill>
                  <a:srgbClr val="002060"/>
                </a:solidFill>
                <a:latin typeface="Castellar" panose="020A0402060406010301" pitchFamily="18" charset="0"/>
              </a:rPr>
              <a:t>                   </a:t>
            </a:r>
            <a:br>
              <a:rPr lang="en-US" sz="3200" b="1" dirty="0">
                <a:solidFill>
                  <a:srgbClr val="002060"/>
                </a:solidFill>
                <a:latin typeface="Castellar" panose="020A0402060406010301" pitchFamily="18" charset="0"/>
              </a:rPr>
            </a:br>
            <a:r>
              <a:rPr lang="en-US" sz="3200" b="1" dirty="0">
                <a:solidFill>
                  <a:srgbClr val="002060"/>
                </a:solidFill>
                <a:latin typeface="Castellar" panose="020A0402060406010301" pitchFamily="18" charset="0"/>
              </a:rPr>
              <a:t>                    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astellar" panose="020A0402060406010301" pitchFamily="18" charset="0"/>
              </a:rPr>
              <a:t>Questions ?</a:t>
            </a:r>
            <a:endParaRPr lang="en-US" b="1" i="0" u="none" strike="noStrike" baseline="0" dirty="0">
              <a:solidFill>
                <a:schemeClr val="bg2">
                  <a:lumMod val="10000"/>
                </a:schemeClr>
              </a:solidFill>
              <a:latin typeface="Castellar" panose="020A0402060406010301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5C9C67-7148-8486-DB6C-B1703C5C6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700" y="1585912"/>
            <a:ext cx="8683562" cy="2257426"/>
          </a:xfrm>
          <a:gradFill>
            <a:gsLst>
              <a:gs pos="0">
                <a:srgbClr val="EF8163">
                  <a:lumMod val="88000"/>
                </a:srgbClr>
              </a:gs>
              <a:gs pos="54000">
                <a:schemeClr val="accent1">
                  <a:lumMod val="40000"/>
                  <a:lumOff val="60000"/>
                  <a:alpha val="22000"/>
                </a:schemeClr>
              </a:gs>
              <a:gs pos="100000">
                <a:schemeClr val="bg1"/>
              </a:gs>
            </a:gsLst>
            <a:lin ang="16200000" scaled="0"/>
          </a:gra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45000">
                  <a:schemeClr val="accent1">
                    <a:lumMod val="40000"/>
                    <a:lumOff val="60000"/>
                  </a:schemeClr>
                </a:gs>
                <a:gs pos="97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</a:ln>
          <a:effectLst>
            <a:glow rad="114300">
              <a:schemeClr val="accent2">
                <a:lumMod val="40000"/>
                <a:lumOff val="60000"/>
              </a:schemeClr>
            </a:glow>
            <a:outerShdw blurRad="152400" dist="317500" dir="5400000" sx="90000" sy="-19000" rotWithShape="0">
              <a:schemeClr val="accent1">
                <a:lumMod val="20000"/>
                <a:lumOff val="80000"/>
                <a:alpha val="15000"/>
              </a:schemeClr>
            </a:outerShdw>
            <a:reflection blurRad="6350" stA="50000" endA="295" endPos="92000" dist="101600" dir="5400000" sy="-100000" algn="bl" rotWithShape="0"/>
            <a:softEdge rad="38100"/>
          </a:effectLst>
          <a:scene3d>
            <a:camera prst="isometricRightUp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stellar" panose="020A0402060406010301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stellar" panose="020A0402060406010301" pitchFamily="18" charset="0"/>
              </a:rPr>
              <a:t>         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stellar" panose="020A0402060406010301" pitchFamily="18" charset="0"/>
              </a:rPr>
              <a:t>                              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stellar" panose="020A0402060406010301" pitchFamily="18" charset="0"/>
              </a:rPr>
              <a:t>Thank You 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4404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582</TotalTime>
  <Words>478</Words>
  <Application>Microsoft Office PowerPoint</Application>
  <PresentationFormat>Widescreen</PresentationFormat>
  <Paragraphs>103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Castellar</vt:lpstr>
      <vt:lpstr>Century Gothic</vt:lpstr>
      <vt:lpstr>Courier New</vt:lpstr>
      <vt:lpstr>Times New Roman</vt:lpstr>
      <vt:lpstr>Wingdings</vt:lpstr>
      <vt:lpstr>Wingdings 3</vt:lpstr>
      <vt:lpstr>Wisp</vt:lpstr>
      <vt:lpstr>PowerPoint Presentation</vt:lpstr>
      <vt:lpstr>              Project Overview</vt:lpstr>
      <vt:lpstr>PowerPoint Presentation</vt:lpstr>
      <vt:lpstr>  MAIN FUNCTIONALITIES</vt:lpstr>
      <vt:lpstr>     CART AND OTHER  FEATURES </vt:lpstr>
      <vt:lpstr>      Each product has a dedicated page that presents complete information. This page helps users make informed purchasing decisions. The cart updates dynamically as users interact with it. </vt:lpstr>
      <vt:lpstr>   Technologies  Used:</vt:lpstr>
      <vt:lpstr>PowerPoint Presentation</vt:lpstr>
      <vt:lpstr> Conclusion</vt:lpstr>
      <vt:lpstr>Future Improvements</vt:lpstr>
      <vt:lpstr>                                                              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Luna Ioana</dc:creator>
  <cp:lastModifiedBy>Luna Ioana</cp:lastModifiedBy>
  <cp:revision>12</cp:revision>
  <dcterms:created xsi:type="dcterms:W3CDTF">2026-07-01T15:54:13Z</dcterms:created>
  <dcterms:modified xsi:type="dcterms:W3CDTF">2026-07-02T01:40:40Z</dcterms:modified>
</cp:coreProperties>
</file>